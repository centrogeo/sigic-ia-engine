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62" r:id="rId3"/>
    <p:sldId id="264" r:id="rId4"/>
    <p:sldId id="261" r:id="rId5"/>
    <p:sldId id="263" r:id="rId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22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913AC9-9FDB-C148-AB9E-E9C9A10DDFB3}" v="67" dt="2026-03-26T19:26:29.2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46"/>
    <p:restoredTop sz="94694"/>
  </p:normalViewPr>
  <p:slideViewPr>
    <p:cSldViewPr snapToGrid="0">
      <p:cViewPr varScale="1">
        <p:scale>
          <a:sx n="117" d="100"/>
          <a:sy n="117" d="100"/>
        </p:scale>
        <p:origin x="111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7DDD58-8C17-9CA2-7ED3-AB0752834089}"/>
              </a:ext>
            </a:extLst>
          </p:cNvPr>
          <p:cNvSpPr>
            <a:spLocks noGrp="1"/>
          </p:cNvSpPr>
          <p:nvPr>
            <p:ph type="ctrTitle"/>
          </p:nvPr>
        </p:nvSpPr>
        <p:spPr>
          <a:xfrm>
            <a:off x="639416" y="1496075"/>
            <a:ext cx="10028584" cy="2387600"/>
          </a:xfrm>
        </p:spPr>
        <p:txBody>
          <a:bodyPr anchor="b"/>
          <a:lstStyle>
            <a:lvl1pPr algn="l">
              <a:defRPr sz="4800"/>
            </a:lvl1pPr>
          </a:lstStyle>
          <a:p>
            <a:endParaRPr lang="es-MX" dirty="0"/>
          </a:p>
        </p:txBody>
      </p:sp>
      <p:sp>
        <p:nvSpPr>
          <p:cNvPr id="3" name="Subtítulo 2">
            <a:extLst>
              <a:ext uri="{FF2B5EF4-FFF2-40B4-BE49-F238E27FC236}">
                <a16:creationId xmlns:a16="http://schemas.microsoft.com/office/drawing/2014/main" id="{8899CA22-A98F-76F9-E39B-72AD81E7C05E}"/>
              </a:ext>
            </a:extLst>
          </p:cNvPr>
          <p:cNvSpPr>
            <a:spLocks noGrp="1"/>
          </p:cNvSpPr>
          <p:nvPr>
            <p:ph type="subTitle" idx="1"/>
          </p:nvPr>
        </p:nvSpPr>
        <p:spPr>
          <a:xfrm>
            <a:off x="639416" y="4074077"/>
            <a:ext cx="10028584" cy="840753"/>
          </a:xfrm>
        </p:spPr>
        <p:txBody>
          <a:bodyPr/>
          <a:lstStyle>
            <a:lvl1pPr marL="0" indent="0" algn="l">
              <a:lnSpc>
                <a:spcPct val="100000"/>
              </a:lnSpc>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s-MX" dirty="0"/>
          </a:p>
        </p:txBody>
      </p:sp>
      <p:pic>
        <p:nvPicPr>
          <p:cNvPr id="5" name="Imagen 4">
            <a:extLst>
              <a:ext uri="{FF2B5EF4-FFF2-40B4-BE49-F238E27FC236}">
                <a16:creationId xmlns:a16="http://schemas.microsoft.com/office/drawing/2014/main" id="{830EDAC7-ABE7-FF38-5072-5F1434147515}"/>
              </a:ext>
            </a:extLst>
          </p:cNvPr>
          <p:cNvPicPr>
            <a:picLocks noChangeAspect="1"/>
          </p:cNvPicPr>
          <p:nvPr userDrawn="1"/>
        </p:nvPicPr>
        <p:blipFill>
          <a:blip r:embed="rId2"/>
          <a:stretch>
            <a:fillRect/>
          </a:stretch>
        </p:blipFill>
        <p:spPr>
          <a:xfrm>
            <a:off x="639416" y="387727"/>
            <a:ext cx="3197087" cy="322215"/>
          </a:xfrm>
          <a:prstGeom prst="rect">
            <a:avLst/>
          </a:prstGeom>
        </p:spPr>
      </p:pic>
      <p:sp>
        <p:nvSpPr>
          <p:cNvPr id="6" name="Marcador de texto 8">
            <a:extLst>
              <a:ext uri="{FF2B5EF4-FFF2-40B4-BE49-F238E27FC236}">
                <a16:creationId xmlns:a16="http://schemas.microsoft.com/office/drawing/2014/main" id="{FDE3F63D-9DCC-5C15-A5E4-747C041783A3}"/>
              </a:ext>
            </a:extLst>
          </p:cNvPr>
          <p:cNvSpPr>
            <a:spLocks noGrp="1"/>
          </p:cNvSpPr>
          <p:nvPr>
            <p:ph type="body" sz="quarter" idx="12" hasCustomPrompt="1"/>
          </p:nvPr>
        </p:nvSpPr>
        <p:spPr>
          <a:xfrm>
            <a:off x="633954" y="5105232"/>
            <a:ext cx="10034046" cy="518692"/>
          </a:xfrm>
        </p:spPr>
        <p:txBody>
          <a:bodyPr>
            <a:noAutofit/>
          </a:bodyPr>
          <a:lstStyle>
            <a:lvl1pPr>
              <a:buNone/>
              <a:defRPr sz="1400">
                <a:solidFill>
                  <a:schemeClr val="accent4"/>
                </a:solidFill>
              </a:defRPr>
            </a:lvl1pPr>
          </a:lstStyle>
          <a:p>
            <a:pPr lvl="0"/>
            <a:r>
              <a:rPr lang="es-MX" dirty="0"/>
              <a:t>Fecha</a:t>
            </a:r>
          </a:p>
        </p:txBody>
      </p:sp>
    </p:spTree>
    <p:extLst>
      <p:ext uri="{BB962C8B-B14F-4D97-AF65-F5344CB8AC3E}">
        <p14:creationId xmlns:p14="http://schemas.microsoft.com/office/powerpoint/2010/main" val="394196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43925-8C17-2955-FE7F-5136A478B569}"/>
              </a:ext>
            </a:extLst>
          </p:cNvPr>
          <p:cNvSpPr>
            <a:spLocks noGrp="1"/>
          </p:cNvSpPr>
          <p:nvPr>
            <p:ph type="title"/>
          </p:nvPr>
        </p:nvSpPr>
        <p:spPr>
          <a:xfrm>
            <a:off x="639416" y="1280299"/>
            <a:ext cx="10714383" cy="657018"/>
          </a:xfrm>
        </p:spPr>
        <p:txBody>
          <a:bodyPr>
            <a:noAutofit/>
          </a:bodyPr>
          <a:lstStyle>
            <a:lvl1pPr>
              <a:defRPr sz="3200"/>
            </a:lvl1pPr>
          </a:lstStyle>
          <a:p>
            <a:r>
              <a:rPr lang="es-MX" dirty="0"/>
              <a:t>Haz clic para modificar el estilo de título del patrón</a:t>
            </a:r>
          </a:p>
        </p:txBody>
      </p:sp>
      <p:pic>
        <p:nvPicPr>
          <p:cNvPr id="8" name="Imagen 7">
            <a:extLst>
              <a:ext uri="{FF2B5EF4-FFF2-40B4-BE49-F238E27FC236}">
                <a16:creationId xmlns:a16="http://schemas.microsoft.com/office/drawing/2014/main" id="{B57A130E-574E-239F-DA4A-B69F629568C0}"/>
              </a:ext>
            </a:extLst>
          </p:cNvPr>
          <p:cNvPicPr>
            <a:picLocks noChangeAspect="1"/>
          </p:cNvPicPr>
          <p:nvPr userDrawn="1"/>
        </p:nvPicPr>
        <p:blipFill>
          <a:blip r:embed="rId2"/>
          <a:stretch>
            <a:fillRect/>
          </a:stretch>
        </p:blipFill>
        <p:spPr>
          <a:xfrm>
            <a:off x="639416" y="387727"/>
            <a:ext cx="3197087" cy="322215"/>
          </a:xfrm>
          <a:prstGeom prst="rect">
            <a:avLst/>
          </a:prstGeom>
        </p:spPr>
      </p:pic>
      <p:sp>
        <p:nvSpPr>
          <p:cNvPr id="10" name="Marcador de texto 9">
            <a:extLst>
              <a:ext uri="{FF2B5EF4-FFF2-40B4-BE49-F238E27FC236}">
                <a16:creationId xmlns:a16="http://schemas.microsoft.com/office/drawing/2014/main" id="{AD24380F-87DC-4D8C-C0A2-D49F58D3736E}"/>
              </a:ext>
            </a:extLst>
          </p:cNvPr>
          <p:cNvSpPr>
            <a:spLocks noGrp="1"/>
          </p:cNvSpPr>
          <p:nvPr>
            <p:ph type="body" sz="quarter" idx="10"/>
          </p:nvPr>
        </p:nvSpPr>
        <p:spPr>
          <a:xfrm>
            <a:off x="639417" y="2102177"/>
            <a:ext cx="10714384" cy="4147811"/>
          </a:xfrm>
        </p:spPr>
        <p:txBody>
          <a:bodyPr>
            <a:normAutofit/>
          </a:bodyPr>
          <a:lstStyle>
            <a:lvl1pPr marL="7938" indent="-7938">
              <a:buFont typeface="Arial" panose="020B0604020202020204" pitchFamily="34" charset="0"/>
              <a:buNone/>
              <a:tabLst/>
              <a:defRPr sz="2000">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s-MX" dirty="0"/>
              <a:t>Haga clic para modificar los estilos de texto del patrón</a:t>
            </a:r>
          </a:p>
        </p:txBody>
      </p:sp>
    </p:spTree>
    <p:extLst>
      <p:ext uri="{BB962C8B-B14F-4D97-AF65-F5344CB8AC3E}">
        <p14:creationId xmlns:p14="http://schemas.microsoft.com/office/powerpoint/2010/main" val="321015017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iñeta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43925-8C17-2955-FE7F-5136A478B569}"/>
              </a:ext>
            </a:extLst>
          </p:cNvPr>
          <p:cNvSpPr>
            <a:spLocks noGrp="1"/>
          </p:cNvSpPr>
          <p:nvPr>
            <p:ph type="title"/>
          </p:nvPr>
        </p:nvSpPr>
        <p:spPr>
          <a:xfrm>
            <a:off x="639416" y="1280299"/>
            <a:ext cx="10714383" cy="657018"/>
          </a:xfrm>
        </p:spPr>
        <p:txBody>
          <a:bodyPr>
            <a:noAutofit/>
          </a:bodyPr>
          <a:lstStyle>
            <a:lvl1pPr>
              <a:defRPr sz="3200"/>
            </a:lvl1pPr>
          </a:lstStyle>
          <a:p>
            <a:r>
              <a:rPr lang="es-MX" dirty="0"/>
              <a:t>Haz clic para modificar el estilo de título del patrón</a:t>
            </a:r>
          </a:p>
        </p:txBody>
      </p:sp>
      <p:pic>
        <p:nvPicPr>
          <p:cNvPr id="8" name="Imagen 7">
            <a:extLst>
              <a:ext uri="{FF2B5EF4-FFF2-40B4-BE49-F238E27FC236}">
                <a16:creationId xmlns:a16="http://schemas.microsoft.com/office/drawing/2014/main" id="{B57A130E-574E-239F-DA4A-B69F629568C0}"/>
              </a:ext>
            </a:extLst>
          </p:cNvPr>
          <p:cNvPicPr>
            <a:picLocks noChangeAspect="1"/>
          </p:cNvPicPr>
          <p:nvPr userDrawn="1"/>
        </p:nvPicPr>
        <p:blipFill>
          <a:blip r:embed="rId2"/>
          <a:stretch>
            <a:fillRect/>
          </a:stretch>
        </p:blipFill>
        <p:spPr>
          <a:xfrm>
            <a:off x="639416" y="387727"/>
            <a:ext cx="3197087" cy="322215"/>
          </a:xfrm>
          <a:prstGeom prst="rect">
            <a:avLst/>
          </a:prstGeom>
        </p:spPr>
      </p:pic>
      <p:sp>
        <p:nvSpPr>
          <p:cNvPr id="10" name="Marcador de texto 9">
            <a:extLst>
              <a:ext uri="{FF2B5EF4-FFF2-40B4-BE49-F238E27FC236}">
                <a16:creationId xmlns:a16="http://schemas.microsoft.com/office/drawing/2014/main" id="{AD24380F-87DC-4D8C-C0A2-D49F58D3736E}"/>
              </a:ext>
            </a:extLst>
          </p:cNvPr>
          <p:cNvSpPr>
            <a:spLocks noGrp="1"/>
          </p:cNvSpPr>
          <p:nvPr>
            <p:ph type="body" sz="quarter" idx="10"/>
          </p:nvPr>
        </p:nvSpPr>
        <p:spPr>
          <a:xfrm>
            <a:off x="639417" y="2102177"/>
            <a:ext cx="10714384" cy="4147811"/>
          </a:xfrm>
        </p:spPr>
        <p:txBody>
          <a:bodyPr>
            <a:normAutofit/>
          </a:bodyPr>
          <a:lstStyle>
            <a:lvl1pPr marL="185738" indent="-185738">
              <a:buFont typeface="Arial" panose="020B0604020202020204" pitchFamily="34" charset="0"/>
              <a:buChar char="•"/>
              <a:tabLst/>
              <a:defRPr sz="2000">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s-MX" dirty="0"/>
              <a:t>Haga clic para modificar los estilos de texto del patrón</a:t>
            </a:r>
          </a:p>
        </p:txBody>
      </p:sp>
    </p:spTree>
    <p:extLst>
      <p:ext uri="{BB962C8B-B14F-4D97-AF65-F5344CB8AC3E}">
        <p14:creationId xmlns:p14="http://schemas.microsoft.com/office/powerpoint/2010/main" val="200713753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con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43925-8C17-2955-FE7F-5136A478B569}"/>
              </a:ext>
            </a:extLst>
          </p:cNvPr>
          <p:cNvSpPr>
            <a:spLocks noGrp="1"/>
          </p:cNvSpPr>
          <p:nvPr>
            <p:ph type="title"/>
          </p:nvPr>
        </p:nvSpPr>
        <p:spPr>
          <a:xfrm>
            <a:off x="639416" y="1280299"/>
            <a:ext cx="10714383" cy="657018"/>
          </a:xfrm>
        </p:spPr>
        <p:txBody>
          <a:bodyPr>
            <a:noAutofit/>
          </a:bodyPr>
          <a:lstStyle>
            <a:lvl1pPr>
              <a:defRPr sz="3200"/>
            </a:lvl1pPr>
          </a:lstStyle>
          <a:p>
            <a:r>
              <a:rPr lang="es-MX" dirty="0"/>
              <a:t>Haz clic para modificar el estilo de título del patrón</a:t>
            </a:r>
          </a:p>
        </p:txBody>
      </p:sp>
      <p:pic>
        <p:nvPicPr>
          <p:cNvPr id="8" name="Imagen 7">
            <a:extLst>
              <a:ext uri="{FF2B5EF4-FFF2-40B4-BE49-F238E27FC236}">
                <a16:creationId xmlns:a16="http://schemas.microsoft.com/office/drawing/2014/main" id="{B57A130E-574E-239F-DA4A-B69F629568C0}"/>
              </a:ext>
            </a:extLst>
          </p:cNvPr>
          <p:cNvPicPr>
            <a:picLocks noChangeAspect="1"/>
          </p:cNvPicPr>
          <p:nvPr userDrawn="1"/>
        </p:nvPicPr>
        <p:blipFill>
          <a:blip r:embed="rId2"/>
          <a:stretch>
            <a:fillRect/>
          </a:stretch>
        </p:blipFill>
        <p:spPr>
          <a:xfrm>
            <a:off x="639416" y="387727"/>
            <a:ext cx="3197087" cy="322215"/>
          </a:xfrm>
          <a:prstGeom prst="rect">
            <a:avLst/>
          </a:prstGeom>
        </p:spPr>
      </p:pic>
      <p:sp>
        <p:nvSpPr>
          <p:cNvPr id="9" name="Marcador de texto 8">
            <a:extLst>
              <a:ext uri="{FF2B5EF4-FFF2-40B4-BE49-F238E27FC236}">
                <a16:creationId xmlns:a16="http://schemas.microsoft.com/office/drawing/2014/main" id="{2532FCE7-CE80-EDB9-0B6C-4E5F1E9201B2}"/>
              </a:ext>
            </a:extLst>
          </p:cNvPr>
          <p:cNvSpPr>
            <a:spLocks noGrp="1"/>
          </p:cNvSpPr>
          <p:nvPr>
            <p:ph type="body" sz="quarter" idx="11" hasCustomPrompt="1"/>
          </p:nvPr>
        </p:nvSpPr>
        <p:spPr>
          <a:xfrm>
            <a:off x="1319753" y="2192065"/>
            <a:ext cx="10034046" cy="290459"/>
          </a:xfrm>
        </p:spPr>
        <p:txBody>
          <a:bodyPr>
            <a:normAutofit/>
          </a:bodyPr>
          <a:lstStyle>
            <a:lvl1pPr>
              <a:buNone/>
              <a:defRPr sz="1600" b="1">
                <a:solidFill>
                  <a:schemeClr val="accent4"/>
                </a:solidFill>
              </a:defRPr>
            </a:lvl1pPr>
          </a:lstStyle>
          <a:p>
            <a:pPr lvl="0"/>
            <a:r>
              <a:rPr lang="es-MX" dirty="0"/>
              <a:t>Concepto</a:t>
            </a:r>
          </a:p>
        </p:txBody>
      </p:sp>
      <p:sp>
        <p:nvSpPr>
          <p:cNvPr id="10" name="Marcador de texto 8">
            <a:extLst>
              <a:ext uri="{FF2B5EF4-FFF2-40B4-BE49-F238E27FC236}">
                <a16:creationId xmlns:a16="http://schemas.microsoft.com/office/drawing/2014/main" id="{B483598A-F119-6AB8-3D12-C2669630555E}"/>
              </a:ext>
            </a:extLst>
          </p:cNvPr>
          <p:cNvSpPr>
            <a:spLocks noGrp="1"/>
          </p:cNvSpPr>
          <p:nvPr>
            <p:ph type="body" sz="quarter" idx="12" hasCustomPrompt="1"/>
          </p:nvPr>
        </p:nvSpPr>
        <p:spPr>
          <a:xfrm>
            <a:off x="1319753" y="2549724"/>
            <a:ext cx="10034046" cy="518692"/>
          </a:xfrm>
        </p:spPr>
        <p:txBody>
          <a:bodyPr>
            <a:noAutofit/>
          </a:bodyPr>
          <a:lstStyle>
            <a:lvl1pPr>
              <a:buNone/>
              <a:defRPr sz="1400">
                <a:solidFill>
                  <a:schemeClr val="accent4"/>
                </a:solidFill>
              </a:defRPr>
            </a:lvl1pPr>
          </a:lstStyle>
          <a:p>
            <a:pPr lvl="0"/>
            <a:r>
              <a:rPr lang="es-MX" dirty="0"/>
              <a:t>Descripción</a:t>
            </a:r>
          </a:p>
        </p:txBody>
      </p:sp>
      <p:sp>
        <p:nvSpPr>
          <p:cNvPr id="12" name="Marcador de posición de imagen 11">
            <a:extLst>
              <a:ext uri="{FF2B5EF4-FFF2-40B4-BE49-F238E27FC236}">
                <a16:creationId xmlns:a16="http://schemas.microsoft.com/office/drawing/2014/main" id="{E4256046-C8E2-B799-CC6C-667167ED3F29}"/>
              </a:ext>
            </a:extLst>
          </p:cNvPr>
          <p:cNvSpPr>
            <a:spLocks noGrp="1"/>
          </p:cNvSpPr>
          <p:nvPr>
            <p:ph type="pic" sz="quarter" idx="13"/>
          </p:nvPr>
        </p:nvSpPr>
        <p:spPr>
          <a:xfrm>
            <a:off x="639418" y="2201393"/>
            <a:ext cx="538934" cy="518692"/>
          </a:xfrm>
        </p:spPr>
        <p:txBody>
          <a:bodyPr/>
          <a:lstStyle/>
          <a:p>
            <a:endParaRPr lang="es-MX"/>
          </a:p>
        </p:txBody>
      </p:sp>
      <p:sp>
        <p:nvSpPr>
          <p:cNvPr id="22" name="Marcador de texto 8">
            <a:extLst>
              <a:ext uri="{FF2B5EF4-FFF2-40B4-BE49-F238E27FC236}">
                <a16:creationId xmlns:a16="http://schemas.microsoft.com/office/drawing/2014/main" id="{9E92030B-F00A-DD14-FEEA-6D8B9808843D}"/>
              </a:ext>
            </a:extLst>
          </p:cNvPr>
          <p:cNvSpPr>
            <a:spLocks noGrp="1"/>
          </p:cNvSpPr>
          <p:nvPr>
            <p:ph type="body" sz="quarter" idx="14" hasCustomPrompt="1"/>
          </p:nvPr>
        </p:nvSpPr>
        <p:spPr>
          <a:xfrm>
            <a:off x="1319753" y="3285574"/>
            <a:ext cx="10034046" cy="290459"/>
          </a:xfrm>
        </p:spPr>
        <p:txBody>
          <a:bodyPr>
            <a:normAutofit/>
          </a:bodyPr>
          <a:lstStyle>
            <a:lvl1pPr>
              <a:buNone/>
              <a:defRPr sz="1600" b="1">
                <a:solidFill>
                  <a:schemeClr val="accent4"/>
                </a:solidFill>
              </a:defRPr>
            </a:lvl1pPr>
          </a:lstStyle>
          <a:p>
            <a:pPr lvl="0"/>
            <a:r>
              <a:rPr lang="es-MX" dirty="0"/>
              <a:t>Concepto</a:t>
            </a:r>
          </a:p>
        </p:txBody>
      </p:sp>
      <p:sp>
        <p:nvSpPr>
          <p:cNvPr id="23" name="Marcador de texto 8">
            <a:extLst>
              <a:ext uri="{FF2B5EF4-FFF2-40B4-BE49-F238E27FC236}">
                <a16:creationId xmlns:a16="http://schemas.microsoft.com/office/drawing/2014/main" id="{05ED6E70-3D23-7AB8-2EB4-D4597CAF304D}"/>
              </a:ext>
            </a:extLst>
          </p:cNvPr>
          <p:cNvSpPr>
            <a:spLocks noGrp="1"/>
          </p:cNvSpPr>
          <p:nvPr>
            <p:ph type="body" sz="quarter" idx="15" hasCustomPrompt="1"/>
          </p:nvPr>
        </p:nvSpPr>
        <p:spPr>
          <a:xfrm>
            <a:off x="1319753" y="3643233"/>
            <a:ext cx="10034046" cy="518692"/>
          </a:xfrm>
        </p:spPr>
        <p:txBody>
          <a:bodyPr>
            <a:noAutofit/>
          </a:bodyPr>
          <a:lstStyle>
            <a:lvl1pPr>
              <a:buNone/>
              <a:defRPr sz="1400">
                <a:solidFill>
                  <a:schemeClr val="accent4"/>
                </a:solidFill>
              </a:defRPr>
            </a:lvl1pPr>
          </a:lstStyle>
          <a:p>
            <a:pPr lvl="0"/>
            <a:r>
              <a:rPr lang="es-MX" dirty="0"/>
              <a:t>Descripción</a:t>
            </a:r>
          </a:p>
        </p:txBody>
      </p:sp>
      <p:sp>
        <p:nvSpPr>
          <p:cNvPr id="24" name="Marcador de posición de imagen 11">
            <a:extLst>
              <a:ext uri="{FF2B5EF4-FFF2-40B4-BE49-F238E27FC236}">
                <a16:creationId xmlns:a16="http://schemas.microsoft.com/office/drawing/2014/main" id="{3510686E-38F0-FC85-6B59-695698C718B8}"/>
              </a:ext>
            </a:extLst>
          </p:cNvPr>
          <p:cNvSpPr>
            <a:spLocks noGrp="1"/>
          </p:cNvSpPr>
          <p:nvPr>
            <p:ph type="pic" sz="quarter" idx="16"/>
          </p:nvPr>
        </p:nvSpPr>
        <p:spPr>
          <a:xfrm>
            <a:off x="639418" y="3294902"/>
            <a:ext cx="538934" cy="518692"/>
          </a:xfrm>
        </p:spPr>
        <p:txBody>
          <a:bodyPr/>
          <a:lstStyle/>
          <a:p>
            <a:endParaRPr lang="es-MX"/>
          </a:p>
        </p:txBody>
      </p:sp>
      <p:sp>
        <p:nvSpPr>
          <p:cNvPr id="25" name="Marcador de texto 8">
            <a:extLst>
              <a:ext uri="{FF2B5EF4-FFF2-40B4-BE49-F238E27FC236}">
                <a16:creationId xmlns:a16="http://schemas.microsoft.com/office/drawing/2014/main" id="{EDD618FD-6FE1-38ED-058C-93A8B470A7B3}"/>
              </a:ext>
            </a:extLst>
          </p:cNvPr>
          <p:cNvSpPr>
            <a:spLocks noGrp="1"/>
          </p:cNvSpPr>
          <p:nvPr>
            <p:ph type="body" sz="quarter" idx="17" hasCustomPrompt="1"/>
          </p:nvPr>
        </p:nvSpPr>
        <p:spPr>
          <a:xfrm>
            <a:off x="1319753" y="4388510"/>
            <a:ext cx="10034046" cy="290459"/>
          </a:xfrm>
        </p:spPr>
        <p:txBody>
          <a:bodyPr>
            <a:normAutofit/>
          </a:bodyPr>
          <a:lstStyle>
            <a:lvl1pPr>
              <a:buNone/>
              <a:defRPr sz="1600" b="1">
                <a:solidFill>
                  <a:schemeClr val="accent4"/>
                </a:solidFill>
              </a:defRPr>
            </a:lvl1pPr>
          </a:lstStyle>
          <a:p>
            <a:pPr lvl="0"/>
            <a:r>
              <a:rPr lang="es-MX" dirty="0"/>
              <a:t>Concepto</a:t>
            </a:r>
          </a:p>
        </p:txBody>
      </p:sp>
      <p:sp>
        <p:nvSpPr>
          <p:cNvPr id="26" name="Marcador de texto 8">
            <a:extLst>
              <a:ext uri="{FF2B5EF4-FFF2-40B4-BE49-F238E27FC236}">
                <a16:creationId xmlns:a16="http://schemas.microsoft.com/office/drawing/2014/main" id="{062330E1-DCCA-B65A-5835-F55F4898D619}"/>
              </a:ext>
            </a:extLst>
          </p:cNvPr>
          <p:cNvSpPr>
            <a:spLocks noGrp="1"/>
          </p:cNvSpPr>
          <p:nvPr>
            <p:ph type="body" sz="quarter" idx="18" hasCustomPrompt="1"/>
          </p:nvPr>
        </p:nvSpPr>
        <p:spPr>
          <a:xfrm>
            <a:off x="1319753" y="4746169"/>
            <a:ext cx="10034046" cy="518692"/>
          </a:xfrm>
        </p:spPr>
        <p:txBody>
          <a:bodyPr>
            <a:noAutofit/>
          </a:bodyPr>
          <a:lstStyle>
            <a:lvl1pPr>
              <a:buNone/>
              <a:defRPr sz="1400">
                <a:solidFill>
                  <a:schemeClr val="accent4"/>
                </a:solidFill>
              </a:defRPr>
            </a:lvl1pPr>
          </a:lstStyle>
          <a:p>
            <a:pPr lvl="0"/>
            <a:r>
              <a:rPr lang="es-MX" dirty="0"/>
              <a:t>Descripción</a:t>
            </a:r>
          </a:p>
        </p:txBody>
      </p:sp>
      <p:sp>
        <p:nvSpPr>
          <p:cNvPr id="27" name="Marcador de posición de imagen 11">
            <a:extLst>
              <a:ext uri="{FF2B5EF4-FFF2-40B4-BE49-F238E27FC236}">
                <a16:creationId xmlns:a16="http://schemas.microsoft.com/office/drawing/2014/main" id="{3EF4FF37-B06E-6138-0201-F934ED4CD5FE}"/>
              </a:ext>
            </a:extLst>
          </p:cNvPr>
          <p:cNvSpPr>
            <a:spLocks noGrp="1"/>
          </p:cNvSpPr>
          <p:nvPr>
            <p:ph type="pic" sz="quarter" idx="19"/>
          </p:nvPr>
        </p:nvSpPr>
        <p:spPr>
          <a:xfrm>
            <a:off x="639418" y="4397838"/>
            <a:ext cx="538934" cy="518692"/>
          </a:xfrm>
        </p:spPr>
        <p:txBody>
          <a:bodyPr/>
          <a:lstStyle/>
          <a:p>
            <a:endParaRPr lang="es-MX"/>
          </a:p>
        </p:txBody>
      </p:sp>
      <p:sp>
        <p:nvSpPr>
          <p:cNvPr id="28" name="Marcador de texto 8">
            <a:extLst>
              <a:ext uri="{FF2B5EF4-FFF2-40B4-BE49-F238E27FC236}">
                <a16:creationId xmlns:a16="http://schemas.microsoft.com/office/drawing/2014/main" id="{2E0CCE9F-D196-46AD-5CD0-B18B9E94A33F}"/>
              </a:ext>
            </a:extLst>
          </p:cNvPr>
          <p:cNvSpPr>
            <a:spLocks noGrp="1"/>
          </p:cNvSpPr>
          <p:nvPr>
            <p:ph type="body" sz="quarter" idx="20" hasCustomPrompt="1"/>
          </p:nvPr>
        </p:nvSpPr>
        <p:spPr>
          <a:xfrm>
            <a:off x="1319753" y="5482019"/>
            <a:ext cx="10034046" cy="290459"/>
          </a:xfrm>
        </p:spPr>
        <p:txBody>
          <a:bodyPr>
            <a:normAutofit/>
          </a:bodyPr>
          <a:lstStyle>
            <a:lvl1pPr>
              <a:buNone/>
              <a:defRPr sz="1600" b="1">
                <a:solidFill>
                  <a:schemeClr val="accent4"/>
                </a:solidFill>
              </a:defRPr>
            </a:lvl1pPr>
          </a:lstStyle>
          <a:p>
            <a:pPr lvl="0"/>
            <a:r>
              <a:rPr lang="es-MX" dirty="0"/>
              <a:t>Concepto</a:t>
            </a:r>
          </a:p>
        </p:txBody>
      </p:sp>
      <p:sp>
        <p:nvSpPr>
          <p:cNvPr id="29" name="Marcador de texto 8">
            <a:extLst>
              <a:ext uri="{FF2B5EF4-FFF2-40B4-BE49-F238E27FC236}">
                <a16:creationId xmlns:a16="http://schemas.microsoft.com/office/drawing/2014/main" id="{97490035-E13A-9233-7D78-F9EA6C7465D7}"/>
              </a:ext>
            </a:extLst>
          </p:cNvPr>
          <p:cNvSpPr>
            <a:spLocks noGrp="1"/>
          </p:cNvSpPr>
          <p:nvPr>
            <p:ph type="body" sz="quarter" idx="21" hasCustomPrompt="1"/>
          </p:nvPr>
        </p:nvSpPr>
        <p:spPr>
          <a:xfrm>
            <a:off x="1319753" y="5839678"/>
            <a:ext cx="10034046" cy="518692"/>
          </a:xfrm>
        </p:spPr>
        <p:txBody>
          <a:bodyPr>
            <a:noAutofit/>
          </a:bodyPr>
          <a:lstStyle>
            <a:lvl1pPr>
              <a:buNone/>
              <a:defRPr sz="1400">
                <a:solidFill>
                  <a:schemeClr val="accent4"/>
                </a:solidFill>
              </a:defRPr>
            </a:lvl1pPr>
          </a:lstStyle>
          <a:p>
            <a:pPr lvl="0"/>
            <a:r>
              <a:rPr lang="es-MX" dirty="0"/>
              <a:t>Descripción</a:t>
            </a:r>
          </a:p>
        </p:txBody>
      </p:sp>
      <p:sp>
        <p:nvSpPr>
          <p:cNvPr id="30" name="Marcador de posición de imagen 11">
            <a:extLst>
              <a:ext uri="{FF2B5EF4-FFF2-40B4-BE49-F238E27FC236}">
                <a16:creationId xmlns:a16="http://schemas.microsoft.com/office/drawing/2014/main" id="{013F9C75-E0FE-6E26-99BF-5E2695F1E2F4}"/>
              </a:ext>
            </a:extLst>
          </p:cNvPr>
          <p:cNvSpPr>
            <a:spLocks noGrp="1"/>
          </p:cNvSpPr>
          <p:nvPr>
            <p:ph type="pic" sz="quarter" idx="22"/>
          </p:nvPr>
        </p:nvSpPr>
        <p:spPr>
          <a:xfrm>
            <a:off x="639418" y="5491347"/>
            <a:ext cx="538934" cy="518692"/>
          </a:xfrm>
        </p:spPr>
        <p:txBody>
          <a:bodyPr/>
          <a:lstStyle/>
          <a:p>
            <a:endParaRPr lang="es-MX"/>
          </a:p>
        </p:txBody>
      </p:sp>
    </p:spTree>
    <p:extLst>
      <p:ext uri="{BB962C8B-B14F-4D97-AF65-F5344CB8AC3E}">
        <p14:creationId xmlns:p14="http://schemas.microsoft.com/office/powerpoint/2010/main" val="2679940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71B9D21D-D42C-8D4D-2D5D-830A5661C480}"/>
              </a:ext>
            </a:extLst>
          </p:cNvPr>
          <p:cNvSpPr/>
          <p:nvPr userDrawn="1"/>
        </p:nvSpPr>
        <p:spPr>
          <a:xfrm>
            <a:off x="0" y="923827"/>
            <a:ext cx="12192000" cy="593417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a:extLst>
              <a:ext uri="{FF2B5EF4-FFF2-40B4-BE49-F238E27FC236}">
                <a16:creationId xmlns:a16="http://schemas.microsoft.com/office/drawing/2014/main" id="{FB11F572-CB80-C818-2B34-4B09F2FE59F0}"/>
              </a:ext>
            </a:extLst>
          </p:cNvPr>
          <p:cNvSpPr>
            <a:spLocks noGrp="1"/>
          </p:cNvSpPr>
          <p:nvPr>
            <p:ph type="title"/>
          </p:nvPr>
        </p:nvSpPr>
        <p:spPr>
          <a:xfrm>
            <a:off x="831850" y="1709738"/>
            <a:ext cx="10515600" cy="2852737"/>
          </a:xfrm>
        </p:spPr>
        <p:txBody>
          <a:bodyPr anchor="b">
            <a:normAutofit/>
          </a:bodyPr>
          <a:lstStyle>
            <a:lvl1pPr>
              <a:defRPr sz="4800">
                <a:solidFill>
                  <a:schemeClr val="bg1"/>
                </a:solidFill>
              </a:defRPr>
            </a:lvl1pPr>
          </a:lstStyle>
          <a:p>
            <a:r>
              <a:rPr lang="es-MX" dirty="0"/>
              <a:t>Haz clic para modificar el estilo de título del patrón</a:t>
            </a:r>
          </a:p>
        </p:txBody>
      </p:sp>
      <p:pic>
        <p:nvPicPr>
          <p:cNvPr id="8" name="Imagen 7">
            <a:extLst>
              <a:ext uri="{FF2B5EF4-FFF2-40B4-BE49-F238E27FC236}">
                <a16:creationId xmlns:a16="http://schemas.microsoft.com/office/drawing/2014/main" id="{9E5B216F-1F46-B0D4-F668-2EE33A3E1B31}"/>
              </a:ext>
            </a:extLst>
          </p:cNvPr>
          <p:cNvPicPr>
            <a:picLocks noChangeAspect="1"/>
          </p:cNvPicPr>
          <p:nvPr userDrawn="1"/>
        </p:nvPicPr>
        <p:blipFill>
          <a:blip r:embed="rId2"/>
          <a:stretch>
            <a:fillRect/>
          </a:stretch>
        </p:blipFill>
        <p:spPr>
          <a:xfrm>
            <a:off x="639416" y="387727"/>
            <a:ext cx="3197087" cy="322215"/>
          </a:xfrm>
          <a:prstGeom prst="rect">
            <a:avLst/>
          </a:prstGeom>
        </p:spPr>
      </p:pic>
    </p:spTree>
    <p:extLst>
      <p:ext uri="{BB962C8B-B14F-4D97-AF65-F5344CB8AC3E}">
        <p14:creationId xmlns:p14="http://schemas.microsoft.com/office/powerpoint/2010/main" val="32530475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BC1C94-E72B-6304-A687-F15B48FBCD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dirty="0"/>
              <a:t>Haz clic para modificar el estilo de título del patrón</a:t>
            </a:r>
          </a:p>
        </p:txBody>
      </p:sp>
      <p:sp>
        <p:nvSpPr>
          <p:cNvPr id="3" name="Marcador de texto 2">
            <a:extLst>
              <a:ext uri="{FF2B5EF4-FFF2-40B4-BE49-F238E27FC236}">
                <a16:creationId xmlns:a16="http://schemas.microsoft.com/office/drawing/2014/main" id="{6B5824DD-9445-0294-B784-5FF12BB0B5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a:t>Quinto nivel</a:t>
            </a:r>
          </a:p>
        </p:txBody>
      </p:sp>
      <p:sp>
        <p:nvSpPr>
          <p:cNvPr id="4" name="Marcador de fecha 3">
            <a:extLst>
              <a:ext uri="{FF2B5EF4-FFF2-40B4-BE49-F238E27FC236}">
                <a16:creationId xmlns:a16="http://schemas.microsoft.com/office/drawing/2014/main" id="{1A13CCFB-F989-034F-18E7-319F2F89D8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2C508C-A4DE-1B41-80BB-C28F0C9FB6D1}" type="datetimeFigureOut">
              <a:rPr lang="es-MX" smtClean="0"/>
              <a:t>26/03/26</a:t>
            </a:fld>
            <a:endParaRPr lang="es-MX"/>
          </a:p>
        </p:txBody>
      </p:sp>
      <p:sp>
        <p:nvSpPr>
          <p:cNvPr id="5" name="Marcador de pie de página 4">
            <a:extLst>
              <a:ext uri="{FF2B5EF4-FFF2-40B4-BE49-F238E27FC236}">
                <a16:creationId xmlns:a16="http://schemas.microsoft.com/office/drawing/2014/main" id="{765F067F-2757-18C4-702E-EDD3F71E0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A20B1219-14CC-39DC-AA12-EE6DB80454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DF8708-6574-8C42-8EE1-D6BB187C6ACC}" type="slidenum">
              <a:rPr lang="es-MX" smtClean="0"/>
              <a:t>‹Nº›</a:t>
            </a:fld>
            <a:endParaRPr lang="es-MX"/>
          </a:p>
        </p:txBody>
      </p:sp>
    </p:spTree>
    <p:extLst>
      <p:ext uri="{BB962C8B-B14F-4D97-AF65-F5344CB8AC3E}">
        <p14:creationId xmlns:p14="http://schemas.microsoft.com/office/powerpoint/2010/main" val="2131633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0" r:id="rId4"/>
    <p:sldLayoutId id="2147483651" r:id="rId5"/>
  </p:sldLayoutIdLst>
  <p:txStyles>
    <p:titleStyle>
      <a:lvl1pPr algn="l" defTabSz="914400" rtl="0" eaLnBrk="1" latinLnBrk="0" hangingPunct="1">
        <a:lnSpc>
          <a:spcPct val="90000"/>
        </a:lnSpc>
        <a:spcBef>
          <a:spcPct val="0"/>
        </a:spcBef>
        <a:buNone/>
        <a:defRPr sz="4400" b="0" i="0" kern="1200">
          <a:solidFill>
            <a:srgbClr val="9B2247"/>
          </a:solidFill>
          <a:latin typeface="Noto Sans Light" panose="020B0502040504020204" pitchFamily="34" charset="0"/>
          <a:ea typeface="Noto Sans Light" panose="020B0502040504020204" pitchFamily="34" charset="0"/>
          <a:cs typeface="Noto Sans Light" panose="020B050204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E544F2-5479-D0B0-F167-976CF785671E}"/>
              </a:ext>
            </a:extLst>
          </p:cNvPr>
          <p:cNvSpPr>
            <a:spLocks noGrp="1"/>
          </p:cNvSpPr>
          <p:nvPr>
            <p:ph type="ctrTitle"/>
          </p:nvPr>
        </p:nvSpPr>
        <p:spPr/>
        <p:txBody>
          <a:bodyPr/>
          <a:lstStyle/>
          <a:p>
            <a:r>
              <a:rPr lang="es-MX" dirty="0"/>
              <a:t>Acceso a servicios de salud en el sur de Mérida</a:t>
            </a:r>
          </a:p>
        </p:txBody>
      </p:sp>
      <p:sp>
        <p:nvSpPr>
          <p:cNvPr id="3" name="Subtítulo 2">
            <a:extLst>
              <a:ext uri="{FF2B5EF4-FFF2-40B4-BE49-F238E27FC236}">
                <a16:creationId xmlns:a16="http://schemas.microsoft.com/office/drawing/2014/main" id="{5C708912-DBB4-ACF2-B472-E3862E1F8DE8}"/>
              </a:ext>
            </a:extLst>
          </p:cNvPr>
          <p:cNvSpPr>
            <a:spLocks noGrp="1"/>
          </p:cNvSpPr>
          <p:nvPr>
            <p:ph type="subTitle" idx="1"/>
          </p:nvPr>
        </p:nvSpPr>
        <p:spPr>
          <a:xfrm>
            <a:off x="639416" y="4074078"/>
            <a:ext cx="10028584" cy="837288"/>
          </a:xfrm>
        </p:spPr>
        <p:txBody>
          <a:bodyPr/>
          <a:lstStyle/>
          <a:p>
            <a:pPr>
              <a:lnSpc>
                <a:spcPct val="100000"/>
              </a:lnSpc>
            </a:pPr>
            <a:r>
              <a:rPr lang="es-MX" dirty="0"/>
              <a:t>Análisis preliminar de cobertura, distribución de equipamiento médico y accesibilidad territorial</a:t>
            </a:r>
          </a:p>
        </p:txBody>
      </p:sp>
      <p:sp>
        <p:nvSpPr>
          <p:cNvPr id="4" name="Marcador de texto 3">
            <a:extLst>
              <a:ext uri="{FF2B5EF4-FFF2-40B4-BE49-F238E27FC236}">
                <a16:creationId xmlns:a16="http://schemas.microsoft.com/office/drawing/2014/main" id="{EB9850D1-1580-84EC-5438-0FD899732433}"/>
              </a:ext>
            </a:extLst>
          </p:cNvPr>
          <p:cNvSpPr>
            <a:spLocks noGrp="1"/>
          </p:cNvSpPr>
          <p:nvPr>
            <p:ph type="body" sz="quarter" idx="12"/>
          </p:nvPr>
        </p:nvSpPr>
        <p:spPr/>
        <p:txBody>
          <a:bodyPr/>
          <a:lstStyle/>
          <a:p>
            <a:r>
              <a:rPr lang="es-MX" dirty="0"/>
              <a:t>Marzo 2026</a:t>
            </a:r>
          </a:p>
        </p:txBody>
      </p:sp>
    </p:spTree>
    <p:extLst>
      <p:ext uri="{BB962C8B-B14F-4D97-AF65-F5344CB8AC3E}">
        <p14:creationId xmlns:p14="http://schemas.microsoft.com/office/powerpoint/2010/main" val="1392705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133DCF-7B3D-FDB1-44BA-A5B14C2024BC}"/>
              </a:ext>
            </a:extLst>
          </p:cNvPr>
          <p:cNvSpPr>
            <a:spLocks noGrp="1"/>
          </p:cNvSpPr>
          <p:nvPr>
            <p:ph type="title"/>
          </p:nvPr>
        </p:nvSpPr>
        <p:spPr/>
        <p:txBody>
          <a:bodyPr/>
          <a:lstStyle/>
          <a:p>
            <a:r>
              <a:rPr lang="es-MX" dirty="0"/>
              <a:t>Introducción</a:t>
            </a:r>
          </a:p>
        </p:txBody>
      </p:sp>
      <p:sp>
        <p:nvSpPr>
          <p:cNvPr id="3" name="Marcador de texto 2">
            <a:extLst>
              <a:ext uri="{FF2B5EF4-FFF2-40B4-BE49-F238E27FC236}">
                <a16:creationId xmlns:a16="http://schemas.microsoft.com/office/drawing/2014/main" id="{6E7FE16C-16CD-A289-04D3-E146B19CAA8F}"/>
              </a:ext>
            </a:extLst>
          </p:cNvPr>
          <p:cNvSpPr>
            <a:spLocks noGrp="1"/>
          </p:cNvSpPr>
          <p:nvPr>
            <p:ph type="body" sz="quarter" idx="10"/>
          </p:nvPr>
        </p:nvSpPr>
        <p:spPr/>
        <p:txBody>
          <a:bodyPr/>
          <a:lstStyle/>
          <a:p>
            <a:r>
              <a:rPr lang="es-MX" dirty="0">
                <a:effectLst/>
              </a:rPr>
              <a:t>El acceso equitativo a servicios de salud es un aspecto clave en la planificación territorial. En contextos urbanos en expansión, la distribución del equipamiento médico no siempre crece al mismo ritmo que la población, lo que puede generar brechas de cobertura.</a:t>
            </a:r>
            <a:br>
              <a:rPr lang="es-MX" dirty="0"/>
            </a:br>
            <a:br>
              <a:rPr lang="es-MX" dirty="0"/>
            </a:br>
            <a:r>
              <a:rPr lang="es-MX" dirty="0">
                <a:effectLst/>
              </a:rPr>
              <a:t>Este reporte presenta un ejercicio exploratorio para analizar la relación entre la ubicación de centros de salud, la densidad poblacional y la accesibilidad territorial en la zona sur de Mérida</a:t>
            </a:r>
            <a:endParaRPr lang="es-MX" dirty="0"/>
          </a:p>
        </p:txBody>
      </p:sp>
    </p:spTree>
    <p:extLst>
      <p:ext uri="{BB962C8B-B14F-4D97-AF65-F5344CB8AC3E}">
        <p14:creationId xmlns:p14="http://schemas.microsoft.com/office/powerpoint/2010/main" val="100452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7819D1-D76E-D111-8EFA-F460C6997D7B}"/>
              </a:ext>
            </a:extLst>
          </p:cNvPr>
          <p:cNvSpPr>
            <a:spLocks noGrp="1"/>
          </p:cNvSpPr>
          <p:nvPr>
            <p:ph type="title"/>
          </p:nvPr>
        </p:nvSpPr>
        <p:spPr/>
        <p:txBody>
          <a:bodyPr/>
          <a:lstStyle/>
          <a:p>
            <a:r>
              <a:rPr lang="es-MX" dirty="0"/>
              <a:t>Principales hallazgos</a:t>
            </a:r>
          </a:p>
        </p:txBody>
      </p:sp>
      <p:sp>
        <p:nvSpPr>
          <p:cNvPr id="3" name="Marcador de texto 2">
            <a:extLst>
              <a:ext uri="{FF2B5EF4-FFF2-40B4-BE49-F238E27FC236}">
                <a16:creationId xmlns:a16="http://schemas.microsoft.com/office/drawing/2014/main" id="{BB8CD647-D5EF-D169-F49F-B2AE08A2A270}"/>
              </a:ext>
            </a:extLst>
          </p:cNvPr>
          <p:cNvSpPr>
            <a:spLocks noGrp="1"/>
          </p:cNvSpPr>
          <p:nvPr>
            <p:ph type="body" sz="quarter" idx="10"/>
          </p:nvPr>
        </p:nvSpPr>
        <p:spPr/>
        <p:txBody>
          <a:bodyPr/>
          <a:lstStyle/>
          <a:p>
            <a:r>
              <a:rPr lang="es-MX" dirty="0"/>
              <a:t>Concentración de centros de salud en corredores urbanos principales.</a:t>
            </a:r>
          </a:p>
          <a:p>
            <a:r>
              <a:rPr lang="es-MX" dirty="0"/>
              <a:t>Colonias con alta densidad poblacional ubicadas a más de 2 km de un centro de salud.</a:t>
            </a:r>
          </a:p>
          <a:p>
            <a:r>
              <a:rPr lang="es-MX" dirty="0"/>
              <a:t>Sectores con accesibilidad limitada debido a conectividad vial insuficiente. </a:t>
            </a:r>
          </a:p>
          <a:p>
            <a:r>
              <a:rPr lang="es-MX" dirty="0"/>
              <a:t>Diferencias de cobertura entre distintas zonas del área de estudio.</a:t>
            </a:r>
          </a:p>
        </p:txBody>
      </p:sp>
    </p:spTree>
    <p:extLst>
      <p:ext uri="{BB962C8B-B14F-4D97-AF65-F5344CB8AC3E}">
        <p14:creationId xmlns:p14="http://schemas.microsoft.com/office/powerpoint/2010/main" val="208258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0E0B4D-0CB2-53DB-9C91-EA1B2B327878}"/>
              </a:ext>
            </a:extLst>
          </p:cNvPr>
          <p:cNvSpPr>
            <a:spLocks noGrp="1"/>
          </p:cNvSpPr>
          <p:nvPr>
            <p:ph type="title"/>
          </p:nvPr>
        </p:nvSpPr>
        <p:spPr/>
        <p:txBody>
          <a:bodyPr/>
          <a:lstStyle/>
          <a:p>
            <a:r>
              <a:rPr lang="es-MX" dirty="0"/>
              <a:t>Panorama general de cobertura y accesibilidad</a:t>
            </a:r>
          </a:p>
        </p:txBody>
      </p:sp>
      <p:sp>
        <p:nvSpPr>
          <p:cNvPr id="3" name="Marcador de texto 2">
            <a:extLst>
              <a:ext uri="{FF2B5EF4-FFF2-40B4-BE49-F238E27FC236}">
                <a16:creationId xmlns:a16="http://schemas.microsoft.com/office/drawing/2014/main" id="{3ED72877-8211-9B2A-CE16-F3DAFBE91915}"/>
              </a:ext>
            </a:extLst>
          </p:cNvPr>
          <p:cNvSpPr>
            <a:spLocks noGrp="1"/>
          </p:cNvSpPr>
          <p:nvPr>
            <p:ph type="body" sz="quarter" idx="11"/>
          </p:nvPr>
        </p:nvSpPr>
        <p:spPr/>
        <p:txBody>
          <a:bodyPr>
            <a:normAutofit lnSpcReduction="10000"/>
          </a:bodyPr>
          <a:lstStyle/>
          <a:p>
            <a:r>
              <a:rPr lang="es-MX" dirty="0"/>
              <a:t>Área de estudio</a:t>
            </a:r>
          </a:p>
        </p:txBody>
      </p:sp>
      <p:sp>
        <p:nvSpPr>
          <p:cNvPr id="4" name="Marcador de texto 3">
            <a:extLst>
              <a:ext uri="{FF2B5EF4-FFF2-40B4-BE49-F238E27FC236}">
                <a16:creationId xmlns:a16="http://schemas.microsoft.com/office/drawing/2014/main" id="{E08D5E82-FF6E-AACE-8B2D-0BE9771D71D1}"/>
              </a:ext>
            </a:extLst>
          </p:cNvPr>
          <p:cNvSpPr>
            <a:spLocks noGrp="1"/>
          </p:cNvSpPr>
          <p:nvPr>
            <p:ph type="body" sz="quarter" idx="12"/>
          </p:nvPr>
        </p:nvSpPr>
        <p:spPr/>
        <p:txBody>
          <a:bodyPr/>
          <a:lstStyle/>
          <a:p>
            <a:r>
              <a:rPr lang="es-MX" dirty="0"/>
              <a:t>Zona sur del municipio de Mérida, con énfasis en colonias de alta densidad poblacional.</a:t>
            </a:r>
          </a:p>
        </p:txBody>
      </p:sp>
      <p:pic>
        <p:nvPicPr>
          <p:cNvPr id="28" name="Marcador de posición de imagen 27" descr="Map with pin con relleno sólido">
            <a:extLst>
              <a:ext uri="{FF2B5EF4-FFF2-40B4-BE49-F238E27FC236}">
                <a16:creationId xmlns:a16="http://schemas.microsoft.com/office/drawing/2014/main" id="{999B9401-F1B5-BE22-5F18-C8FA5E46F131}"/>
              </a:ext>
            </a:extLst>
          </p:cNvPr>
          <p:cNvPicPr>
            <a:picLocks noGrp="1" noChangeAspect="1"/>
          </p:cNvPicPr>
          <p:nvPr>
            <p:ph type="pic" sz="quarter" idx="13"/>
          </p:nvPr>
        </p:nvPicPr>
        <p:blipFill>
          <a:blip>
            <a:extLst>
              <a:ext uri="{96DAC541-7B7A-43D3-8B79-37D633B846F1}">
                <asvg:svgBlip xmlns:asvg="http://schemas.microsoft.com/office/drawing/2016/SVG/main" r:embed="rId2"/>
              </a:ext>
            </a:extLst>
          </a:blip>
          <a:srcRect t="1917" b="1917"/>
          <a:stretch/>
        </p:blipFill>
        <p:spPr/>
      </p:pic>
      <p:sp>
        <p:nvSpPr>
          <p:cNvPr id="6" name="Marcador de texto 5">
            <a:extLst>
              <a:ext uri="{FF2B5EF4-FFF2-40B4-BE49-F238E27FC236}">
                <a16:creationId xmlns:a16="http://schemas.microsoft.com/office/drawing/2014/main" id="{2E809DB0-2FF3-E749-0797-78E6E177B2AE}"/>
              </a:ext>
            </a:extLst>
          </p:cNvPr>
          <p:cNvSpPr>
            <a:spLocks noGrp="1"/>
          </p:cNvSpPr>
          <p:nvPr>
            <p:ph type="body" sz="quarter" idx="14"/>
          </p:nvPr>
        </p:nvSpPr>
        <p:spPr/>
        <p:txBody>
          <a:bodyPr>
            <a:normAutofit lnSpcReduction="10000"/>
          </a:bodyPr>
          <a:lstStyle/>
          <a:p>
            <a:r>
              <a:rPr lang="es-MX" dirty="0"/>
              <a:t>Población</a:t>
            </a:r>
          </a:p>
        </p:txBody>
      </p:sp>
      <p:sp>
        <p:nvSpPr>
          <p:cNvPr id="7" name="Marcador de texto 6">
            <a:extLst>
              <a:ext uri="{FF2B5EF4-FFF2-40B4-BE49-F238E27FC236}">
                <a16:creationId xmlns:a16="http://schemas.microsoft.com/office/drawing/2014/main" id="{3116248F-E18E-AD26-1A57-61BC4A0F9C21}"/>
              </a:ext>
            </a:extLst>
          </p:cNvPr>
          <p:cNvSpPr>
            <a:spLocks noGrp="1"/>
          </p:cNvSpPr>
          <p:nvPr>
            <p:ph type="body" sz="quarter" idx="15"/>
          </p:nvPr>
        </p:nvSpPr>
        <p:spPr/>
        <p:txBody>
          <a:bodyPr/>
          <a:lstStyle/>
          <a:p>
            <a:r>
              <a:rPr lang="es-MX" dirty="0"/>
              <a:t>Sectores con crecimiento urbano y demanda creciente de servicios médicos.</a:t>
            </a:r>
          </a:p>
        </p:txBody>
      </p:sp>
      <p:pic>
        <p:nvPicPr>
          <p:cNvPr id="18" name="Marcador de posición de imagen 17" descr="Group of people con relleno sólido">
            <a:extLst>
              <a:ext uri="{FF2B5EF4-FFF2-40B4-BE49-F238E27FC236}">
                <a16:creationId xmlns:a16="http://schemas.microsoft.com/office/drawing/2014/main" id="{2E6E5A58-C520-4145-CC9A-F86CA739023C}"/>
              </a:ext>
            </a:extLst>
          </p:cNvPr>
          <p:cNvPicPr>
            <a:picLocks noGrp="1" noChangeAspect="1"/>
          </p:cNvPicPr>
          <p:nvPr>
            <p:ph type="pic" sz="quarter" idx="16"/>
          </p:nvPr>
        </p:nvPicPr>
        <p:blipFill>
          <a:blip>
            <a:extLst>
              <a:ext uri="{96DAC541-7B7A-43D3-8B79-37D633B846F1}">
                <asvg:svgBlip xmlns:asvg="http://schemas.microsoft.com/office/drawing/2016/SVG/main" r:embed="rId3"/>
              </a:ext>
            </a:extLst>
          </a:blip>
          <a:srcRect t="1917" b="1917"/>
          <a:stretch/>
        </p:blipFill>
        <p:spPr/>
      </p:pic>
      <p:sp>
        <p:nvSpPr>
          <p:cNvPr id="9" name="Marcador de texto 8">
            <a:extLst>
              <a:ext uri="{FF2B5EF4-FFF2-40B4-BE49-F238E27FC236}">
                <a16:creationId xmlns:a16="http://schemas.microsoft.com/office/drawing/2014/main" id="{E25A9505-0314-F010-2E2F-4E7D10EB5629}"/>
              </a:ext>
            </a:extLst>
          </p:cNvPr>
          <p:cNvSpPr>
            <a:spLocks noGrp="1"/>
          </p:cNvSpPr>
          <p:nvPr>
            <p:ph type="body" sz="quarter" idx="17"/>
          </p:nvPr>
        </p:nvSpPr>
        <p:spPr/>
        <p:txBody>
          <a:bodyPr>
            <a:normAutofit lnSpcReduction="10000"/>
          </a:bodyPr>
          <a:lstStyle/>
          <a:p>
            <a:r>
              <a:rPr lang="es-MX" dirty="0"/>
              <a:t>Brechas identificadas</a:t>
            </a:r>
          </a:p>
        </p:txBody>
      </p:sp>
      <p:sp>
        <p:nvSpPr>
          <p:cNvPr id="10" name="Marcador de texto 9">
            <a:extLst>
              <a:ext uri="{FF2B5EF4-FFF2-40B4-BE49-F238E27FC236}">
                <a16:creationId xmlns:a16="http://schemas.microsoft.com/office/drawing/2014/main" id="{B2C1EE31-4E38-F014-F427-2453F9906DCC}"/>
              </a:ext>
            </a:extLst>
          </p:cNvPr>
          <p:cNvSpPr>
            <a:spLocks noGrp="1"/>
          </p:cNvSpPr>
          <p:nvPr>
            <p:ph type="body" sz="quarter" idx="18"/>
          </p:nvPr>
        </p:nvSpPr>
        <p:spPr/>
        <p:txBody>
          <a:bodyPr/>
          <a:lstStyle/>
          <a:p>
            <a:r>
              <a:rPr lang="es-MX" dirty="0"/>
              <a:t>Zonas con menor cobertura y acceso desigual a servicios de salud.</a:t>
            </a:r>
          </a:p>
        </p:txBody>
      </p:sp>
      <p:pic>
        <p:nvPicPr>
          <p:cNvPr id="20" name="Marcador de posición de imagen 19" descr="Scales of justice con relleno sólido">
            <a:extLst>
              <a:ext uri="{FF2B5EF4-FFF2-40B4-BE49-F238E27FC236}">
                <a16:creationId xmlns:a16="http://schemas.microsoft.com/office/drawing/2014/main" id="{BD97E7C3-1A00-3FDE-0980-CCF0327EB589}"/>
              </a:ext>
            </a:extLst>
          </p:cNvPr>
          <p:cNvPicPr>
            <a:picLocks noGrp="1" noChangeAspect="1"/>
          </p:cNvPicPr>
          <p:nvPr>
            <p:ph type="pic" sz="quarter" idx="19"/>
          </p:nvPr>
        </p:nvPicPr>
        <p:blipFill>
          <a:blip>
            <a:extLst>
              <a:ext uri="{96DAC541-7B7A-43D3-8B79-37D633B846F1}">
                <asvg:svgBlip xmlns:asvg="http://schemas.microsoft.com/office/drawing/2016/SVG/main" r:embed="rId4"/>
              </a:ext>
            </a:extLst>
          </a:blip>
          <a:srcRect t="1770" b="1770"/>
          <a:stretch/>
        </p:blipFill>
        <p:spPr/>
      </p:pic>
      <p:sp>
        <p:nvSpPr>
          <p:cNvPr id="12" name="Marcador de texto 11">
            <a:extLst>
              <a:ext uri="{FF2B5EF4-FFF2-40B4-BE49-F238E27FC236}">
                <a16:creationId xmlns:a16="http://schemas.microsoft.com/office/drawing/2014/main" id="{B9AAFAA9-C137-43B7-52C9-5AE56191519C}"/>
              </a:ext>
            </a:extLst>
          </p:cNvPr>
          <p:cNvSpPr>
            <a:spLocks noGrp="1"/>
          </p:cNvSpPr>
          <p:nvPr>
            <p:ph type="body" sz="quarter" idx="20"/>
          </p:nvPr>
        </p:nvSpPr>
        <p:spPr/>
        <p:txBody>
          <a:bodyPr>
            <a:normAutofit lnSpcReduction="10000"/>
          </a:bodyPr>
          <a:lstStyle/>
          <a:p>
            <a:r>
              <a:rPr lang="es-MX" dirty="0"/>
              <a:t>Conectividad</a:t>
            </a:r>
          </a:p>
        </p:txBody>
      </p:sp>
      <p:sp>
        <p:nvSpPr>
          <p:cNvPr id="13" name="Marcador de texto 12">
            <a:extLst>
              <a:ext uri="{FF2B5EF4-FFF2-40B4-BE49-F238E27FC236}">
                <a16:creationId xmlns:a16="http://schemas.microsoft.com/office/drawing/2014/main" id="{C3048FA8-5B6C-98B8-BFF3-65B989C48711}"/>
              </a:ext>
            </a:extLst>
          </p:cNvPr>
          <p:cNvSpPr>
            <a:spLocks noGrp="1"/>
          </p:cNvSpPr>
          <p:nvPr>
            <p:ph type="body" sz="quarter" idx="21"/>
          </p:nvPr>
        </p:nvSpPr>
        <p:spPr/>
        <p:txBody>
          <a:bodyPr/>
          <a:lstStyle/>
          <a:p>
            <a:r>
              <a:rPr lang="es-MX" dirty="0"/>
              <a:t>Limitaciones en la red vial que afectan los tiempos de traslado.</a:t>
            </a:r>
          </a:p>
        </p:txBody>
      </p:sp>
      <p:pic>
        <p:nvPicPr>
          <p:cNvPr id="22" name="Marcador de posición de imagen 21" descr="Connected con relleno sólido">
            <a:extLst>
              <a:ext uri="{FF2B5EF4-FFF2-40B4-BE49-F238E27FC236}">
                <a16:creationId xmlns:a16="http://schemas.microsoft.com/office/drawing/2014/main" id="{E84D17E9-B0E7-2B53-9F38-467C920203D5}"/>
              </a:ext>
            </a:extLst>
          </p:cNvPr>
          <p:cNvPicPr>
            <a:picLocks noGrp="1" noChangeAspect="1"/>
          </p:cNvPicPr>
          <p:nvPr>
            <p:ph type="pic" sz="quarter" idx="22"/>
          </p:nvPr>
        </p:nvPicPr>
        <p:blipFill>
          <a:blip>
            <a:extLst>
              <a:ext uri="{96DAC541-7B7A-43D3-8B79-37D633B846F1}">
                <asvg:svgBlip xmlns:asvg="http://schemas.microsoft.com/office/drawing/2016/SVG/main" r:embed="rId5"/>
              </a:ext>
            </a:extLst>
          </a:blip>
          <a:srcRect t="1770" b="1770"/>
          <a:stretch/>
        </p:blipFill>
        <p:spPr/>
      </p:pic>
    </p:spTree>
    <p:extLst>
      <p:ext uri="{BB962C8B-B14F-4D97-AF65-F5344CB8AC3E}">
        <p14:creationId xmlns:p14="http://schemas.microsoft.com/office/powerpoint/2010/main" val="213627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82A993-53D6-1BE2-D7DB-FC67DCCC57E5}"/>
              </a:ext>
            </a:extLst>
          </p:cNvPr>
          <p:cNvSpPr>
            <a:spLocks noGrp="1"/>
          </p:cNvSpPr>
          <p:nvPr>
            <p:ph type="title"/>
          </p:nvPr>
        </p:nvSpPr>
        <p:spPr/>
        <p:txBody>
          <a:bodyPr/>
          <a:lstStyle/>
          <a:p>
            <a:r>
              <a:rPr lang="es-MX" dirty="0"/>
              <a:t>Infraestructura de salud y dinámica territorial</a:t>
            </a:r>
          </a:p>
        </p:txBody>
      </p:sp>
    </p:spTree>
    <p:extLst>
      <p:ext uri="{BB962C8B-B14F-4D97-AF65-F5344CB8AC3E}">
        <p14:creationId xmlns:p14="http://schemas.microsoft.com/office/powerpoint/2010/main" val="282973252"/>
      </p:ext>
    </p:extLst>
  </p:cSld>
  <p:clrMapOvr>
    <a:masterClrMapping/>
  </p:clrMapOvr>
</p:sld>
</file>

<file path=ppt/theme/theme1.xml><?xml version="1.0" encoding="utf-8"?>
<a:theme xmlns:a="http://schemas.openxmlformats.org/drawingml/2006/main" name="Tema de Office">
  <a:themeElements>
    <a:clrScheme name="SIGIC">
      <a:dk1>
        <a:srgbClr val="611232"/>
      </a:dk1>
      <a:lt1>
        <a:srgbClr val="FFFFFF"/>
      </a:lt1>
      <a:dk2>
        <a:srgbClr val="9B2146"/>
      </a:dk2>
      <a:lt2>
        <a:srgbClr val="FAF5E9"/>
      </a:lt2>
      <a:accent1>
        <a:srgbClr val="98989A"/>
      </a:accent1>
      <a:accent2>
        <a:srgbClr val="A57F2C"/>
      </a:accent2>
      <a:accent3>
        <a:srgbClr val="1E5B4F"/>
      </a:accent3>
      <a:accent4>
        <a:srgbClr val="161A1D"/>
      </a:accent4>
      <a:accent5>
        <a:srgbClr val="E6D193"/>
      </a:accent5>
      <a:accent6>
        <a:srgbClr val="002F2A"/>
      </a:accent6>
      <a:hlink>
        <a:srgbClr val="1D8ACF"/>
      </a:hlink>
      <a:folHlink>
        <a:srgbClr val="B9649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223</Words>
  <Application>Microsoft Macintosh PowerPoint</Application>
  <PresentationFormat>Panorámica</PresentationFormat>
  <Paragraphs>20</Paragraphs>
  <Slides>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Aptos</vt:lpstr>
      <vt:lpstr>Arial</vt:lpstr>
      <vt:lpstr>Noto Sans</vt:lpstr>
      <vt:lpstr>Noto Sans Light</vt:lpstr>
      <vt:lpstr>Tema de Office</vt:lpstr>
      <vt:lpstr>Acceso a servicios de salud en el sur de Mérida</vt:lpstr>
      <vt:lpstr>Introducción</vt:lpstr>
      <vt:lpstr>Principales hallazgos</vt:lpstr>
      <vt:lpstr>Panorama general de cobertura y accesibilidad</vt:lpstr>
      <vt:lpstr>Infraestructura de salud y dinámica territorial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ortiz</dc:creator>
  <cp:lastModifiedBy>andrea ortiz</cp:lastModifiedBy>
  <cp:revision>2</cp:revision>
  <dcterms:created xsi:type="dcterms:W3CDTF">2026-03-26T16:07:47Z</dcterms:created>
  <dcterms:modified xsi:type="dcterms:W3CDTF">2026-03-26T19:28:38Z</dcterms:modified>
</cp:coreProperties>
</file>